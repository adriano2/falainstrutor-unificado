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3" r:id="rId14"/>
    <p:sldId id="264" r:id="rId15"/>
    <p:sldId id="265" r:id="rId16"/>
    <p:sldId id="266" r:id="rId17"/>
    <p:sldId id="261" r:id="rId7"/>
    <p:sldId id="262" r:id="rId8"/>
  </p:sldIdLst>
  <p:notesMasterIdLst>
    <p:notesMasterId r:id="rId9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Abertura (15s). Em 1 frase: digitalizamos o treinamento obrigatório de SST — cursos nas NRs, certificado válido e gestão de conformidade para empresas.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Roteiro de ~5 min: problema, solução, produto, mercado, diferenciais, modelo e próximos passos.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Entrando no contexto do problema.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Treinar nas NRs é obrigação legal de toda empresa. O presencial é caro e difícil de comprovar. Sem conformidade vêm multas, embargos e acidentes — dor real, cara e recorrente.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Resolvemos 100% online: cursos, prova corrigida automaticamente, certificado com assinatura digital do instrutor e painel de conformidade por empresa.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Reforço de impacto: treinamento previne a grande maioria dos acidentes — esse é o nosso valor central.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Convite: testar a demonstração e conversar sobre proposta. Contato na tela.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Quatro painéis integrados na mesma base — web e app Android. Aluno estuda e certifica; empresa acompanha conformidade; instrutor e admin gerem provas, vendas e comissões.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Validade jurídica (assinatura digital/ICP), integridade da avaliação (correção no servidor + homologação do instrutor) e visão de conformidade por empresa (NR-04).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Mais de 20 milhões de empresas ativas no Brasil, todas com obrigações de SST. Treinamentos têm validade e reciclagem — receita recorrente.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Três frentes de receita: B2C (cursos avulsos), B2B (planos por empresa) e marketplace de instrutores com comissão.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4-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4-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4-1.png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680854" cy="10287000"/>
          </a:xfrm>
          <a:prstGeom prst="rect">
            <a:avLst/>
          </a:prstGeom>
          <a:solidFill>
            <a:srgbClr val="1F9D63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7680854" cy="10287000"/>
          </a:xfrm>
          <a:prstGeom prst="rect">
            <a:avLst/>
          </a:prstGeom>
          <a:solidFill>
            <a:srgbClr val="1F9D63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4927" y="2838450"/>
            <a:ext cx="4191000" cy="46101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680854" y="2000250"/>
            <a:ext cx="10607146" cy="247650"/>
          </a:xfrm>
          <a:prstGeom prst="rect">
            <a:avLst/>
          </a:prstGeom>
          <a:solidFill>
            <a:srgbClr val="F5B21A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254" y="838200"/>
            <a:ext cx="4381500" cy="1237059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595254" y="3143250"/>
            <a:ext cx="8829675" cy="2247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700" b="1" spc="-174" kern="0" dirty="0">
                <a:solidFill>
                  <a:srgbClr val="1F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FalaInstrutor</a:t>
            </a:r>
            <a:endParaRPr lang="en-US" sz="8700" dirty="0"/>
          </a:p>
        </p:txBody>
      </p:sp>
      <p:sp>
        <p:nvSpPr>
          <p:cNvPr id="9" name="Text 5"/>
          <p:cNvSpPr/>
          <p:nvPr/>
        </p:nvSpPr>
        <p:spPr>
          <a:xfrm>
            <a:off x="8633354" y="6286500"/>
            <a:ext cx="5955149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400" b="1" spc="192" kern="0" dirty="0">
                <a:solidFill>
                  <a:srgbClr val="1F9D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PLATAFORMA DE TREINAMENTO SST</a:t>
            </a:r>
            <a:endParaRPr lang="en-US" sz="2400" dirty="0"/>
          </a:p>
        </p:txBody>
      </p:sp>
      <p:sp>
        <p:nvSpPr>
          <p:cNvPr id="10" name="Shape 6"/>
          <p:cNvSpPr/>
          <p:nvPr/>
        </p:nvSpPr>
        <p:spPr>
          <a:xfrm>
            <a:off x="8595254" y="8858250"/>
            <a:ext cx="1721511" cy="514350"/>
          </a:xfrm>
          <a:prstGeom prst="roundRect">
            <a:avLst>
              <a:gd name="adj" fmla="val 14815"/>
            </a:avLst>
          </a:prstGeom>
          <a:solidFill>
            <a:srgbClr val="1F2A3A"/>
          </a:solidFill>
          <a:ln/>
        </p:spPr>
      </p:sp>
      <p:sp>
        <p:nvSpPr>
          <p:cNvPr id="11" name="Text 7"/>
          <p:cNvSpPr/>
          <p:nvPr/>
        </p:nvSpPr>
        <p:spPr>
          <a:xfrm>
            <a:off x="8804804" y="8972550"/>
            <a:ext cx="1378611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NRs · 2026</a:t>
            </a:r>
            <a:endParaRPr lang="en-US" sz="2250" dirty="0"/>
          </a:p>
        </p:txBody>
      </p:sp>
      <p:sp>
        <p:nvSpPr>
          <p:cNvPr id="12" name="Text 8"/>
          <p:cNvSpPr/>
          <p:nvPr/>
        </p:nvSpPr>
        <p:spPr>
          <a:xfrm>
            <a:off x="10507266" y="8972550"/>
            <a:ext cx="2900667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50" b="1" dirty="0">
                <a:solidFill>
                  <a:srgbClr val="5B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Capacitação em SST</a:t>
            </a:r>
            <a:endParaRPr lang="en-US" sz="2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143000"/>
            <a:ext cx="2667000" cy="171450"/>
          </a:xfrm>
          <a:prstGeom prst="rect">
            <a:avLst/>
          </a:prstGeom>
          <a:solidFill>
            <a:srgbClr val="F5B21A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1524000"/>
            <a:ext cx="2955237" cy="8781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6300" b="1" spc="-94" kern="0" dirty="0">
                <a:solidFill>
                  <a:srgbClr val="1F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</a:t>
            </a:r>
            <a:endParaRPr lang="en-US" sz="6300" dirty="0"/>
          </a:p>
        </p:txBody>
      </p:sp>
      <p:sp>
        <p:nvSpPr>
          <p:cNvPr id="5" name="Shape 3"/>
          <p:cNvSpPr/>
          <p:nvPr/>
        </p:nvSpPr>
        <p:spPr>
          <a:xfrm>
            <a:off x="1428750" y="3276600"/>
            <a:ext cx="15430500" cy="1104900"/>
          </a:xfrm>
          <a:prstGeom prst="rect">
            <a:avLst/>
          </a:prstGeom>
          <a:solidFill>
            <a:srgbClr val="F4F7F5"/>
          </a:solidFill>
          <a:ln/>
        </p:spPr>
      </p:sp>
      <p:sp>
        <p:nvSpPr>
          <p:cNvPr id="6" name="Shape 4"/>
          <p:cNvSpPr/>
          <p:nvPr/>
        </p:nvSpPr>
        <p:spPr>
          <a:xfrm>
            <a:off x="1428750" y="3276600"/>
            <a:ext cx="127000" cy="1104900"/>
          </a:xfrm>
          <a:prstGeom prst="rect">
            <a:avLst/>
          </a:prstGeom>
          <a:solidFill>
            <a:srgbClr val="1F9D63"/>
          </a:solidFill>
          <a:ln/>
        </p:spPr>
      </p:sp>
      <p:sp>
        <p:nvSpPr>
          <p:cNvPr id="7" name="Text 5"/>
          <p:cNvSpPr/>
          <p:nvPr/>
        </p:nvSpPr>
        <p:spPr>
          <a:xfrm>
            <a:off x="1936750" y="3562350"/>
            <a:ext cx="933450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200" b="1" dirty="0">
                <a:solidFill>
                  <a:srgbClr val="1F9D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3136900" y="3611827"/>
            <a:ext cx="6618433" cy="4724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850" b="1" dirty="0">
                <a:solidFill>
                  <a:srgbClr val="1F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problema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1428750" y="4591050"/>
            <a:ext cx="15430500" cy="1104900"/>
          </a:xfrm>
          <a:prstGeom prst="rect">
            <a:avLst/>
          </a:prstGeom>
          <a:solidFill>
            <a:srgbClr val="F4F7F5"/>
          </a:solidFill>
          <a:ln/>
        </p:spPr>
      </p:sp>
      <p:sp>
        <p:nvSpPr>
          <p:cNvPr id="10" name="Shape 8"/>
          <p:cNvSpPr/>
          <p:nvPr/>
        </p:nvSpPr>
        <p:spPr>
          <a:xfrm>
            <a:off x="1428750" y="4591050"/>
            <a:ext cx="127000" cy="1104900"/>
          </a:xfrm>
          <a:prstGeom prst="rect">
            <a:avLst/>
          </a:prstGeom>
          <a:solidFill>
            <a:srgbClr val="1F9D63"/>
          </a:solidFill>
          <a:ln/>
        </p:spPr>
      </p:sp>
      <p:sp>
        <p:nvSpPr>
          <p:cNvPr id="11" name="Text 9"/>
          <p:cNvSpPr/>
          <p:nvPr/>
        </p:nvSpPr>
        <p:spPr>
          <a:xfrm>
            <a:off x="1936750" y="4876800"/>
            <a:ext cx="933450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200" b="1" dirty="0">
                <a:solidFill>
                  <a:srgbClr val="1F9D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3136900" y="4926277"/>
            <a:ext cx="5267709" cy="4724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850" b="1" dirty="0">
                <a:solidFill>
                  <a:srgbClr val="1F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Solução e produto</a:t>
            </a:r>
            <a:endParaRPr lang="en-US" sz="2850" dirty="0"/>
          </a:p>
        </p:txBody>
      </p:sp>
      <p:sp>
        <p:nvSpPr>
          <p:cNvPr id="13" name="Shape 11"/>
          <p:cNvSpPr/>
          <p:nvPr/>
        </p:nvSpPr>
        <p:spPr>
          <a:xfrm>
            <a:off x="1428750" y="5905500"/>
            <a:ext cx="15430500" cy="1104900"/>
          </a:xfrm>
          <a:prstGeom prst="rect">
            <a:avLst/>
          </a:prstGeom>
          <a:solidFill>
            <a:srgbClr val="F4F7F5"/>
          </a:solidFill>
          <a:ln/>
        </p:spPr>
      </p:sp>
      <p:sp>
        <p:nvSpPr>
          <p:cNvPr id="14" name="Shape 12"/>
          <p:cNvSpPr/>
          <p:nvPr/>
        </p:nvSpPr>
        <p:spPr>
          <a:xfrm>
            <a:off x="1428750" y="5905500"/>
            <a:ext cx="127000" cy="1104900"/>
          </a:xfrm>
          <a:prstGeom prst="rect">
            <a:avLst/>
          </a:prstGeom>
          <a:solidFill>
            <a:srgbClr val="F5B21A"/>
          </a:solidFill>
          <a:ln/>
        </p:spPr>
      </p:sp>
      <p:sp>
        <p:nvSpPr>
          <p:cNvPr id="15" name="Text 13"/>
          <p:cNvSpPr/>
          <p:nvPr/>
        </p:nvSpPr>
        <p:spPr>
          <a:xfrm>
            <a:off x="1936750" y="6191250"/>
            <a:ext cx="933450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200" b="1" dirty="0">
                <a:solidFill>
                  <a:srgbClr val="C98A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4200" dirty="0"/>
          </a:p>
        </p:txBody>
      </p:sp>
      <p:sp>
        <p:nvSpPr>
          <p:cNvPr id="16" name="Text 14"/>
          <p:cNvSpPr/>
          <p:nvPr/>
        </p:nvSpPr>
        <p:spPr>
          <a:xfrm>
            <a:off x="3136900" y="6240727"/>
            <a:ext cx="4868982" cy="4724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850" b="1" dirty="0">
                <a:solidFill>
                  <a:srgbClr val="1F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Mercado e diferenciais</a:t>
            </a:r>
            <a:endParaRPr lang="en-US" sz="2850" dirty="0"/>
          </a:p>
        </p:txBody>
      </p:sp>
      <p:sp>
        <p:nvSpPr>
          <p:cNvPr id="17" name="Shape 15"/>
          <p:cNvSpPr/>
          <p:nvPr/>
        </p:nvSpPr>
        <p:spPr>
          <a:xfrm>
            <a:off x="1428750" y="7219950"/>
            <a:ext cx="15430500" cy="1104900"/>
          </a:xfrm>
          <a:prstGeom prst="rect">
            <a:avLst/>
          </a:prstGeom>
          <a:solidFill>
            <a:srgbClr val="F4F7F5"/>
          </a:solidFill>
          <a:ln/>
        </p:spPr>
      </p:sp>
      <p:sp>
        <p:nvSpPr>
          <p:cNvPr id="18" name="Shape 16"/>
          <p:cNvSpPr/>
          <p:nvPr/>
        </p:nvSpPr>
        <p:spPr>
          <a:xfrm>
            <a:off x="1428750" y="7219950"/>
            <a:ext cx="127000" cy="1104900"/>
          </a:xfrm>
          <a:prstGeom prst="rect">
            <a:avLst/>
          </a:prstGeom>
          <a:solidFill>
            <a:srgbClr val="1F9D63"/>
          </a:solidFill>
          <a:ln/>
        </p:spPr>
      </p:sp>
      <p:sp>
        <p:nvSpPr>
          <p:cNvPr id="19" name="Text 17"/>
          <p:cNvSpPr/>
          <p:nvPr/>
        </p:nvSpPr>
        <p:spPr>
          <a:xfrm>
            <a:off x="1936750" y="7505700"/>
            <a:ext cx="933450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200" b="1" dirty="0">
                <a:solidFill>
                  <a:srgbClr val="1F9D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4200" dirty="0"/>
          </a:p>
        </p:txBody>
      </p:sp>
      <p:sp>
        <p:nvSpPr>
          <p:cNvPr id="20" name="Text 18"/>
          <p:cNvSpPr/>
          <p:nvPr/>
        </p:nvSpPr>
        <p:spPr>
          <a:xfrm>
            <a:off x="3136900" y="7555177"/>
            <a:ext cx="7435678" cy="4724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850" b="1" dirty="0">
                <a:solidFill>
                  <a:srgbClr val="1F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 e próximos passos</a:t>
            </a:r>
            <a:endParaRPr lang="en-US" sz="2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1F2A3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8412427" cy="10287000"/>
          </a:xfrm>
          <a:prstGeom prst="rect">
            <a:avLst/>
          </a:prstGeom>
          <a:solidFill>
            <a:srgbClr val="1F9D63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8412427" cy="10287000"/>
          </a:xfrm>
          <a:prstGeom prst="rect">
            <a:avLst/>
          </a:prstGeom>
          <a:solidFill>
            <a:srgbClr val="1F9D63"/>
          </a:solidFill>
          <a:ln/>
        </p:spPr>
      </p:sp>
      <p:sp>
        <p:nvSpPr>
          <p:cNvPr id="5" name="Text 3"/>
          <p:cNvSpPr/>
          <p:nvPr/>
        </p:nvSpPr>
        <p:spPr>
          <a:xfrm>
            <a:off x="857250" y="3914775"/>
            <a:ext cx="3496284" cy="2495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2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2500" dirty="0"/>
          </a:p>
        </p:txBody>
      </p:sp>
      <p:sp>
        <p:nvSpPr>
          <p:cNvPr id="6" name="Shape 4"/>
          <p:cNvSpPr/>
          <p:nvPr/>
        </p:nvSpPr>
        <p:spPr>
          <a:xfrm>
            <a:off x="9269677" y="3831034"/>
            <a:ext cx="1524000" cy="171450"/>
          </a:xfrm>
          <a:prstGeom prst="rect">
            <a:avLst/>
          </a:prstGeom>
          <a:solidFill>
            <a:srgbClr val="F5B21A"/>
          </a:solidFill>
          <a:ln/>
        </p:spPr>
      </p:sp>
      <p:sp>
        <p:nvSpPr>
          <p:cNvPr id="7" name="Text 5"/>
          <p:cNvSpPr/>
          <p:nvPr/>
        </p:nvSpPr>
        <p:spPr>
          <a:xfrm>
            <a:off x="9269677" y="4326334"/>
            <a:ext cx="897718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50" b="1" spc="540" kern="0" dirty="0">
                <a:solidFill>
                  <a:srgbClr val="7FE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ETAPA 01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9269677" y="4840684"/>
            <a:ext cx="8405905" cy="165338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6000" b="1" spc="-9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problema</a:t>
            </a:r>
            <a:endParaRPr lang="en-US" sz="6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4000500" cy="10287000"/>
          </a:xfrm>
          <a:prstGeom prst="rect">
            <a:avLst/>
          </a:prstGeom>
          <a:solidFill>
            <a:srgbClr val="1F2A3A"/>
          </a:solidFill>
          <a:ln/>
        </p:spPr>
      </p:sp>
      <p:sp>
        <p:nvSpPr>
          <p:cNvPr id="4" name="Text 2"/>
          <p:cNvSpPr/>
          <p:nvPr/>
        </p:nvSpPr>
        <p:spPr>
          <a:xfrm>
            <a:off x="533400" y="1238250"/>
            <a:ext cx="3227070" cy="1752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0" b="1" dirty="0">
                <a:solidFill>
                  <a:srgbClr val="F5B2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500" dirty="0"/>
          </a:p>
        </p:txBody>
      </p:sp>
      <p:sp>
        <p:nvSpPr>
          <p:cNvPr id="5" name="Text 3"/>
          <p:cNvSpPr/>
          <p:nvPr/>
        </p:nvSpPr>
        <p:spPr>
          <a:xfrm>
            <a:off x="533400" y="3181350"/>
            <a:ext cx="3021711" cy="96758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300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PROBLEMA</a:t>
            </a:r>
            <a:endParaRPr lang="en-US" sz="30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3400" y="8267700"/>
            <a:ext cx="1143000" cy="12573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48250" y="1238250"/>
            <a:ext cx="12557760" cy="1436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5100" b="1" spc="-76" kern="0" dirty="0">
                <a:solidFill>
                  <a:srgbClr val="1F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Treinar nas NRs: caro e burocrático</a:t>
            </a:r>
            <a:endParaRPr lang="en-US" sz="5100" dirty="0"/>
          </a:p>
        </p:txBody>
      </p:sp>
      <p:sp>
        <p:nvSpPr>
          <p:cNvPr id="8" name="Shape 5"/>
          <p:cNvSpPr/>
          <p:nvPr/>
        </p:nvSpPr>
        <p:spPr>
          <a:xfrm>
            <a:off x="5048250" y="3303852"/>
            <a:ext cx="209550" cy="209550"/>
          </a:xfrm>
          <a:prstGeom prst="rect">
            <a:avLst/>
          </a:prstGeom>
          <a:solidFill>
            <a:srgbClr val="F5B21A"/>
          </a:solidFill>
          <a:ln/>
        </p:spPr>
      </p:sp>
      <p:sp>
        <p:nvSpPr>
          <p:cNvPr id="9" name="Text 6"/>
          <p:cNvSpPr/>
          <p:nvPr/>
        </p:nvSpPr>
        <p:spPr>
          <a:xfrm>
            <a:off x="5505450" y="3170502"/>
            <a:ext cx="10366031" cy="5520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2850" dirty="0">
                <a:solidFill>
                  <a:srgbClr val="3846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Treinar a equipe nas NRs é exigência legal.</a:t>
            </a:r>
            <a:endParaRPr lang="en-US" sz="2850" dirty="0"/>
          </a:p>
        </p:txBody>
      </p:sp>
      <p:sp>
        <p:nvSpPr>
          <p:cNvPr id="10" name="Shape 7"/>
          <p:cNvSpPr/>
          <p:nvPr/>
        </p:nvSpPr>
        <p:spPr>
          <a:xfrm>
            <a:off x="5048250" y="4141655"/>
            <a:ext cx="209550" cy="209550"/>
          </a:xfrm>
          <a:prstGeom prst="rect">
            <a:avLst/>
          </a:prstGeom>
          <a:solidFill>
            <a:srgbClr val="F5B21A"/>
          </a:solidFill>
          <a:ln/>
        </p:spPr>
      </p:sp>
      <p:sp>
        <p:nvSpPr>
          <p:cNvPr id="11" name="Text 8"/>
          <p:cNvSpPr/>
          <p:nvPr/>
        </p:nvSpPr>
        <p:spPr>
          <a:xfrm>
            <a:off x="5505450" y="4008305"/>
            <a:ext cx="8202282" cy="5520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2850" dirty="0">
                <a:solidFill>
                  <a:srgbClr val="3846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presencial é caro, lento e difícil de gerir.</a:t>
            </a:r>
            <a:endParaRPr lang="en-US" sz="2850" dirty="0"/>
          </a:p>
        </p:txBody>
      </p:sp>
      <p:sp>
        <p:nvSpPr>
          <p:cNvPr id="12" name="Shape 9"/>
          <p:cNvSpPr/>
          <p:nvPr/>
        </p:nvSpPr>
        <p:spPr>
          <a:xfrm>
            <a:off x="5048250" y="4979458"/>
            <a:ext cx="209550" cy="209550"/>
          </a:xfrm>
          <a:prstGeom prst="rect">
            <a:avLst/>
          </a:prstGeom>
          <a:solidFill>
            <a:srgbClr val="F5B21A"/>
          </a:solidFill>
          <a:ln/>
        </p:spPr>
      </p:sp>
      <p:sp>
        <p:nvSpPr>
          <p:cNvPr id="13" name="Text 10"/>
          <p:cNvSpPr/>
          <p:nvPr/>
        </p:nvSpPr>
        <p:spPr>
          <a:xfrm>
            <a:off x="5505450" y="4846108"/>
            <a:ext cx="10095217" cy="5520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2850" dirty="0">
                <a:solidFill>
                  <a:srgbClr val="3846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conformidade: multas, embargos e acidentes.</a:t>
            </a:r>
            <a:endParaRPr lang="en-US" sz="2850" dirty="0"/>
          </a:p>
        </p:txBody>
      </p:sp>
      <p:sp>
        <p:nvSpPr>
          <p:cNvPr id="14" name="Text 11"/>
          <p:cNvSpPr/>
          <p:nvPr/>
        </p:nvSpPr>
        <p:spPr>
          <a:xfrm>
            <a:off x="5048250" y="9505950"/>
            <a:ext cx="4603406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50" b="1" dirty="0">
                <a:solidFill>
                  <a:srgbClr val="8A94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FalaInstrutor · Segurança do Trabalho</a:t>
            </a:r>
            <a:endParaRPr lang="en-US" sz="1950" dirty="0"/>
          </a:p>
        </p:txBody>
      </p:sp>
      <p:sp>
        <p:nvSpPr>
          <p:cNvPr id="15" name="Text 12"/>
          <p:cNvSpPr/>
          <p:nvPr/>
        </p:nvSpPr>
        <p:spPr>
          <a:xfrm>
            <a:off x="17155187" y="9505950"/>
            <a:ext cx="351764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50" b="1" dirty="0">
                <a:solidFill>
                  <a:srgbClr val="8A94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934450"/>
            <a:ext cx="2286000" cy="209550"/>
          </a:xfrm>
          <a:prstGeom prst="rect">
            <a:avLst/>
          </a:prstGeom>
          <a:solidFill>
            <a:srgbClr val="F5B21A"/>
          </a:solidFill>
          <a:ln/>
        </p:spPr>
      </p:sp>
      <p:sp>
        <p:nvSpPr>
          <p:cNvPr id="4" name="Text 2"/>
          <p:cNvSpPr/>
          <p:nvPr/>
        </p:nvSpPr>
        <p:spPr>
          <a:xfrm>
            <a:off x="8667750" y="3304117"/>
            <a:ext cx="9429750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spc="360" kern="0" dirty="0">
                <a:solidFill>
                  <a:srgbClr val="1F9D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· A SOLUÇÃO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667750" y="3780367"/>
            <a:ext cx="8829675" cy="13546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800" b="1" spc="-72" kern="0" dirty="0">
                <a:solidFill>
                  <a:srgbClr val="1F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Treinar, homologar e certificar — online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8667750" y="5439834"/>
            <a:ext cx="8829675" cy="1581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2400" dirty="0">
                <a:solidFill>
                  <a:srgbClr val="3846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FalaInstrutor reúne cursos nas NRs, prova corrigida no servidor, certificado válido com assinatura digital e painel de conformidade para a empresa.</a:t>
            </a:r>
            <a:endParaRPr lang="en-US" sz="2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1F2A3A"/>
          </a:solidFill>
          <a:ln/>
        </p:spPr>
      </p:sp>
      <p:sp>
        <p:nvSpPr>
          <p:cNvPr id="3" name="Shape 1"/>
          <p:cNvSpPr/>
          <p:nvPr/>
        </p:nvSpPr>
        <p:spPr>
          <a:xfrm>
            <a:off x="1428750" y="2433770"/>
            <a:ext cx="1524000" cy="171450"/>
          </a:xfrm>
          <a:prstGeom prst="rect">
            <a:avLst/>
          </a:prstGeom>
          <a:solidFill>
            <a:srgbClr val="F5B21A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2986220"/>
            <a:ext cx="16973550" cy="27412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24750" b="1" spc="-743" kern="0" dirty="0">
                <a:solidFill>
                  <a:srgbClr val="F5B2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98%</a:t>
            </a:r>
            <a:endParaRPr lang="en-US" sz="24750" dirty="0"/>
          </a:p>
        </p:txBody>
      </p:sp>
      <p:sp>
        <p:nvSpPr>
          <p:cNvPr id="5" name="Text 3"/>
          <p:cNvSpPr/>
          <p:nvPr/>
        </p:nvSpPr>
        <p:spPr>
          <a:xfrm>
            <a:off x="1428750" y="6070335"/>
            <a:ext cx="11772900" cy="1820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 acidentes de trabalho são evitáveis com treinamento e medidas de controle adequadas.</a:t>
            </a:r>
            <a:pPr algn="l" indent="0" marL="0">
              <a:lnSpc>
                <a:spcPct val="130000"/>
              </a:lnSpc>
              <a:buNone/>
            </a:pPr>
            <a:pPr algn="l" indent="0" marL="0">
              <a:lnSpc>
                <a:spcPct val="130000"/>
              </a:lnSpc>
              <a:buNone/>
            </a:pP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428750" y="9505950"/>
            <a:ext cx="4603406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50" b="1" dirty="0">
                <a:solidFill>
                  <a:srgbClr val="8A94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FalaInstrutor · Segurança do Trabalho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16583687" y="9505950"/>
            <a:ext cx="351764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50" b="1" dirty="0">
                <a:solidFill>
                  <a:srgbClr val="8A94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680854" cy="10287000"/>
          </a:xfrm>
          <a:prstGeom prst="rect">
            <a:avLst/>
          </a:prstGeom>
          <a:solidFill>
            <a:srgbClr val="1F9D63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7680854" cy="10287000"/>
          </a:xfrm>
          <a:prstGeom prst="rect">
            <a:avLst/>
          </a:prstGeom>
          <a:solidFill>
            <a:srgbClr val="1F9D63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30677" y="3152775"/>
            <a:ext cx="3619500" cy="398145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538104" y="2788973"/>
            <a:ext cx="1524000" cy="171450"/>
          </a:xfrm>
          <a:prstGeom prst="rect">
            <a:avLst/>
          </a:prstGeom>
          <a:solidFill>
            <a:srgbClr val="F5B21A"/>
          </a:solidFill>
          <a:ln/>
        </p:spPr>
      </p:sp>
      <p:sp>
        <p:nvSpPr>
          <p:cNvPr id="7" name="Text 4"/>
          <p:cNvSpPr/>
          <p:nvPr/>
        </p:nvSpPr>
        <p:spPr>
          <a:xfrm>
            <a:off x="8538104" y="3284273"/>
            <a:ext cx="9781911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100" b="1" spc="462" kern="0" dirty="0">
                <a:solidFill>
                  <a:srgbClr val="1F9D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PRÓXIMOS PASSOS</a:t>
            </a:r>
            <a:endParaRPr lang="en-US" sz="2100" dirty="0"/>
          </a:p>
        </p:txBody>
      </p:sp>
      <p:sp>
        <p:nvSpPr>
          <p:cNvPr id="8" name="Text 5"/>
          <p:cNvSpPr/>
          <p:nvPr/>
        </p:nvSpPr>
        <p:spPr>
          <a:xfrm>
            <a:off x="8538104" y="3779573"/>
            <a:ext cx="9159426" cy="155813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5700" b="1" spc="-114" kern="0" dirty="0">
                <a:solidFill>
                  <a:srgbClr val="1F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Vamos levar SST a mais empresas</a:t>
            </a:r>
            <a:endParaRPr lang="en-US" sz="5700" dirty="0"/>
          </a:p>
        </p:txBody>
      </p:sp>
      <p:sp>
        <p:nvSpPr>
          <p:cNvPr id="9" name="Shape 6"/>
          <p:cNvSpPr/>
          <p:nvPr/>
        </p:nvSpPr>
        <p:spPr>
          <a:xfrm>
            <a:off x="8538104" y="5869120"/>
            <a:ext cx="152400" cy="152400"/>
          </a:xfrm>
          <a:prstGeom prst="rect">
            <a:avLst/>
          </a:prstGeom>
          <a:solidFill>
            <a:srgbClr val="F5B21A"/>
          </a:solidFill>
          <a:ln/>
        </p:spPr>
      </p:sp>
      <p:sp>
        <p:nvSpPr>
          <p:cNvPr id="10" name="Text 7"/>
          <p:cNvSpPr/>
          <p:nvPr/>
        </p:nvSpPr>
        <p:spPr>
          <a:xfrm>
            <a:off x="8881004" y="5752571"/>
            <a:ext cx="5296579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550" dirty="0">
                <a:solidFill>
                  <a:srgbClr val="3846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Acesse: falainstrutor.onrender.com</a:t>
            </a:r>
            <a:endParaRPr lang="en-US" sz="2550" dirty="0"/>
          </a:p>
        </p:txBody>
      </p:sp>
      <p:sp>
        <p:nvSpPr>
          <p:cNvPr id="11" name="Shape 8"/>
          <p:cNvSpPr/>
          <p:nvPr/>
        </p:nvSpPr>
        <p:spPr>
          <a:xfrm>
            <a:off x="8538104" y="6532033"/>
            <a:ext cx="152400" cy="152400"/>
          </a:xfrm>
          <a:prstGeom prst="rect">
            <a:avLst/>
          </a:prstGeom>
          <a:solidFill>
            <a:srgbClr val="F5B21A"/>
          </a:solidFill>
          <a:ln/>
        </p:spPr>
      </p:sp>
      <p:sp>
        <p:nvSpPr>
          <p:cNvPr id="12" name="Text 9"/>
          <p:cNvSpPr/>
          <p:nvPr/>
        </p:nvSpPr>
        <p:spPr>
          <a:xfrm>
            <a:off x="8881004" y="6415485"/>
            <a:ext cx="5559288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550" dirty="0">
                <a:solidFill>
                  <a:srgbClr val="3846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profissionais e empresas (PF e PJ)</a:t>
            </a:r>
            <a:endParaRPr lang="en-US" sz="2550" dirty="0"/>
          </a:p>
        </p:txBody>
      </p:sp>
      <p:sp>
        <p:nvSpPr>
          <p:cNvPr id="13" name="Shape 10"/>
          <p:cNvSpPr/>
          <p:nvPr/>
        </p:nvSpPr>
        <p:spPr>
          <a:xfrm>
            <a:off x="8538104" y="7194947"/>
            <a:ext cx="152400" cy="152400"/>
          </a:xfrm>
          <a:prstGeom prst="rect">
            <a:avLst/>
          </a:prstGeom>
          <a:solidFill>
            <a:srgbClr val="F5B21A"/>
          </a:solidFill>
          <a:ln/>
        </p:spPr>
      </p:sp>
      <p:sp>
        <p:nvSpPr>
          <p:cNvPr id="14" name="Text 11"/>
          <p:cNvSpPr/>
          <p:nvPr/>
        </p:nvSpPr>
        <p:spPr>
          <a:xfrm>
            <a:off x="8881004" y="7078398"/>
            <a:ext cx="4497411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550" dirty="0">
                <a:solidFill>
                  <a:srgbClr val="3846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contato@falainstrutor.com.br</a:t>
            </a:r>
            <a:endParaRPr lang="en-US" sz="25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4000500" cy="10287000"/>
          </a:xfrm>
          <a:prstGeom prst="rect">
            <a:avLst/>
          </a:prstGeom>
          <a:solidFill>
            <a:srgbClr val="1F2A3A"/>
          </a:solidFill>
          <a:ln/>
        </p:spPr>
      </p:sp>
      <p:sp>
        <p:nvSpPr>
          <p:cNvPr id="4" name="Text 2"/>
          <p:cNvSpPr/>
          <p:nvPr/>
        </p:nvSpPr>
        <p:spPr>
          <a:xfrm>
            <a:off x="533400" y="1238250"/>
            <a:ext cx="3227070" cy="1752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0" b="1" dirty="0">
                <a:solidFill>
                  <a:srgbClr val="F5B2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500" dirty="0"/>
          </a:p>
        </p:txBody>
      </p:sp>
      <p:sp>
        <p:nvSpPr>
          <p:cNvPr id="5" name="Text 3"/>
          <p:cNvSpPr/>
          <p:nvPr/>
        </p:nvSpPr>
        <p:spPr>
          <a:xfrm>
            <a:off x="533400" y="3181350"/>
            <a:ext cx="3021711" cy="96758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300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PRODUTO</a:t>
            </a:r>
            <a:endParaRPr lang="en-US" sz="30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8267700"/>
            <a:ext cx="1143000" cy="12573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48250" y="1238250"/>
            <a:ext cx="12557760" cy="1436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5100" b="1" spc="-76" kern="0" dirty="0">
                <a:solidFill>
                  <a:srgbClr val="1F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plataforma, quatro painéis</a:t>
            </a:r>
            <a:endParaRPr lang="en-US" sz="5100" dirty="0"/>
          </a:p>
        </p:txBody>
      </p:sp>
      <p:sp>
        <p:nvSpPr>
          <p:cNvPr id="8" name="Shape 5"/>
          <p:cNvSpPr/>
          <p:nvPr/>
        </p:nvSpPr>
        <p:spPr>
          <a:xfrm>
            <a:off x="5048250" y="3303852"/>
            <a:ext cx="209550" cy="209550"/>
          </a:xfrm>
          <a:prstGeom prst="rect">
            <a:avLst/>
          </a:prstGeom>
          <a:solidFill>
            <a:srgbClr val="F5B21A"/>
          </a:solidFill>
          <a:ln/>
        </p:spPr>
      </p:sp>
      <p:sp>
        <p:nvSpPr>
          <p:cNvPr id="9" name="Text 6"/>
          <p:cNvSpPr/>
          <p:nvPr/>
        </p:nvSpPr>
        <p:spPr>
          <a:xfrm>
            <a:off x="5505450" y="3170502"/>
            <a:ext cx="10366031" cy="5520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2850" dirty="0">
                <a:solidFill>
                  <a:srgbClr val="3846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Aluno: cursos, provas e certificado no celular.</a:t>
            </a:r>
            <a:endParaRPr lang="en-US" sz="2850" dirty="0"/>
          </a:p>
        </p:txBody>
      </p:sp>
      <p:sp>
        <p:nvSpPr>
          <p:cNvPr id="10" name="Shape 7"/>
          <p:cNvSpPr/>
          <p:nvPr/>
        </p:nvSpPr>
        <p:spPr>
          <a:xfrm>
            <a:off x="5048250" y="4141655"/>
            <a:ext cx="209550" cy="209550"/>
          </a:xfrm>
          <a:prstGeom prst="rect">
            <a:avLst/>
          </a:prstGeom>
          <a:solidFill>
            <a:srgbClr val="F5B21A"/>
          </a:solidFill>
          <a:ln/>
        </p:spPr>
      </p:sp>
      <p:sp>
        <p:nvSpPr>
          <p:cNvPr id="11" name="Text 8"/>
          <p:cNvSpPr/>
          <p:nvPr/>
        </p:nvSpPr>
        <p:spPr>
          <a:xfrm>
            <a:off x="5505450" y="4008305"/>
            <a:ext cx="8202282" cy="5520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2850" dirty="0">
                <a:solidFill>
                  <a:srgbClr val="3846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Empresa: treinamentos por grau de risco.</a:t>
            </a:r>
            <a:endParaRPr lang="en-US" sz="2850" dirty="0"/>
          </a:p>
        </p:txBody>
      </p:sp>
      <p:sp>
        <p:nvSpPr>
          <p:cNvPr id="12" name="Shape 9"/>
          <p:cNvSpPr/>
          <p:nvPr/>
        </p:nvSpPr>
        <p:spPr>
          <a:xfrm>
            <a:off x="5048250" y="4979458"/>
            <a:ext cx="209550" cy="209550"/>
          </a:xfrm>
          <a:prstGeom prst="rect">
            <a:avLst/>
          </a:prstGeom>
          <a:solidFill>
            <a:srgbClr val="F5B21A"/>
          </a:solidFill>
          <a:ln/>
        </p:spPr>
      </p:sp>
      <p:sp>
        <p:nvSpPr>
          <p:cNvPr id="13" name="Text 10"/>
          <p:cNvSpPr/>
          <p:nvPr/>
        </p:nvSpPr>
        <p:spPr>
          <a:xfrm>
            <a:off x="5505450" y="4846108"/>
            <a:ext cx="10095217" cy="5520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2850" dirty="0">
                <a:solidFill>
                  <a:srgbClr val="3846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Instrutor e Admin: provas, vendas e gestão.</a:t>
            </a:r>
            <a:endParaRPr lang="en-US" sz="2850" dirty="0"/>
          </a:p>
        </p:txBody>
      </p:sp>
      <p:sp>
        <p:nvSpPr>
          <p:cNvPr id="14" name="Text 11"/>
          <p:cNvSpPr/>
          <p:nvPr/>
        </p:nvSpPr>
        <p:spPr>
          <a:xfrm>
            <a:off x="5048250" y="9505950"/>
            <a:ext cx="4603406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50" b="1" dirty="0">
                <a:solidFill>
                  <a:srgbClr val="8A94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FalaInstrutor · Segurança do Trabalho</a:t>
            </a:r>
            <a:endParaRPr lang="en-US" sz="1950" dirty="0"/>
          </a:p>
        </p:txBody>
      </p:sp>
      <p:sp>
        <p:nvSpPr>
          <p:cNvPr id="15" name="Text 12"/>
          <p:cNvSpPr/>
          <p:nvPr/>
        </p:nvSpPr>
        <p:spPr>
          <a:xfrm>
            <a:off x="17155187" y="9505950"/>
            <a:ext cx="351764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50" b="1" dirty="0">
                <a:solidFill>
                  <a:srgbClr val="8A94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4000500" cy="10287000"/>
          </a:xfrm>
          <a:prstGeom prst="rect">
            <a:avLst/>
          </a:prstGeom>
          <a:solidFill>
            <a:srgbClr val="1F2A3A"/>
          </a:solidFill>
          <a:ln/>
        </p:spPr>
      </p:sp>
      <p:sp>
        <p:nvSpPr>
          <p:cNvPr id="4" name="Text 2"/>
          <p:cNvSpPr/>
          <p:nvPr/>
        </p:nvSpPr>
        <p:spPr>
          <a:xfrm>
            <a:off x="533400" y="1238250"/>
            <a:ext cx="3227070" cy="1752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0" b="1" dirty="0">
                <a:solidFill>
                  <a:srgbClr val="F5B2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500" dirty="0"/>
          </a:p>
        </p:txBody>
      </p:sp>
      <p:sp>
        <p:nvSpPr>
          <p:cNvPr id="5" name="Text 3"/>
          <p:cNvSpPr/>
          <p:nvPr/>
        </p:nvSpPr>
        <p:spPr>
          <a:xfrm>
            <a:off x="533400" y="3181350"/>
            <a:ext cx="3021711" cy="96758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300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DIFERENCIAIS</a:t>
            </a:r>
            <a:endParaRPr lang="en-US" sz="30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8267700"/>
            <a:ext cx="1143000" cy="12573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48250" y="1238250"/>
            <a:ext cx="12557760" cy="1436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5100" b="1" spc="-76" kern="0" dirty="0">
                <a:solidFill>
                  <a:srgbClr val="1F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que a FalaInstrutor</a:t>
            </a:r>
            <a:endParaRPr lang="en-US" sz="5100" dirty="0"/>
          </a:p>
        </p:txBody>
      </p:sp>
      <p:sp>
        <p:nvSpPr>
          <p:cNvPr id="8" name="Shape 5"/>
          <p:cNvSpPr/>
          <p:nvPr/>
        </p:nvSpPr>
        <p:spPr>
          <a:xfrm>
            <a:off x="5048250" y="3303852"/>
            <a:ext cx="209550" cy="209550"/>
          </a:xfrm>
          <a:prstGeom prst="rect">
            <a:avLst/>
          </a:prstGeom>
          <a:solidFill>
            <a:srgbClr val="F5B21A"/>
          </a:solidFill>
          <a:ln/>
        </p:spPr>
      </p:sp>
      <p:sp>
        <p:nvSpPr>
          <p:cNvPr id="9" name="Text 6"/>
          <p:cNvSpPr/>
          <p:nvPr/>
        </p:nvSpPr>
        <p:spPr>
          <a:xfrm>
            <a:off x="5505450" y="3170502"/>
            <a:ext cx="10366031" cy="5520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2850" dirty="0">
                <a:solidFill>
                  <a:srgbClr val="3846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Certificado com assinatura digital do instrutor.</a:t>
            </a:r>
            <a:endParaRPr lang="en-US" sz="2850" dirty="0"/>
          </a:p>
        </p:txBody>
      </p:sp>
      <p:sp>
        <p:nvSpPr>
          <p:cNvPr id="10" name="Shape 7"/>
          <p:cNvSpPr/>
          <p:nvPr/>
        </p:nvSpPr>
        <p:spPr>
          <a:xfrm>
            <a:off x="5048250" y="4141655"/>
            <a:ext cx="209550" cy="209550"/>
          </a:xfrm>
          <a:prstGeom prst="rect">
            <a:avLst/>
          </a:prstGeom>
          <a:solidFill>
            <a:srgbClr val="F5B21A"/>
          </a:solidFill>
          <a:ln/>
        </p:spPr>
      </p:sp>
      <p:sp>
        <p:nvSpPr>
          <p:cNvPr id="11" name="Text 8"/>
          <p:cNvSpPr/>
          <p:nvPr/>
        </p:nvSpPr>
        <p:spPr>
          <a:xfrm>
            <a:off x="5505450" y="4008305"/>
            <a:ext cx="8202282" cy="5520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2850" dirty="0">
                <a:solidFill>
                  <a:srgbClr val="3846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Prova corrigida no servidor + homologação.</a:t>
            </a:r>
            <a:endParaRPr lang="en-US" sz="2850" dirty="0"/>
          </a:p>
        </p:txBody>
      </p:sp>
      <p:sp>
        <p:nvSpPr>
          <p:cNvPr id="12" name="Shape 9"/>
          <p:cNvSpPr/>
          <p:nvPr/>
        </p:nvSpPr>
        <p:spPr>
          <a:xfrm>
            <a:off x="5048250" y="4979458"/>
            <a:ext cx="209550" cy="209550"/>
          </a:xfrm>
          <a:prstGeom prst="rect">
            <a:avLst/>
          </a:prstGeom>
          <a:solidFill>
            <a:srgbClr val="F5B21A"/>
          </a:solidFill>
          <a:ln/>
        </p:spPr>
      </p:sp>
      <p:sp>
        <p:nvSpPr>
          <p:cNvPr id="13" name="Text 10"/>
          <p:cNvSpPr/>
          <p:nvPr/>
        </p:nvSpPr>
        <p:spPr>
          <a:xfrm>
            <a:off x="5505450" y="4846108"/>
            <a:ext cx="10095217" cy="5520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2850" dirty="0">
                <a:solidFill>
                  <a:srgbClr val="3846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Multiplataforma: site, app Android e painel B2B.</a:t>
            </a:r>
            <a:endParaRPr lang="en-US" sz="2850" dirty="0"/>
          </a:p>
        </p:txBody>
      </p:sp>
      <p:sp>
        <p:nvSpPr>
          <p:cNvPr id="14" name="Text 11"/>
          <p:cNvSpPr/>
          <p:nvPr/>
        </p:nvSpPr>
        <p:spPr>
          <a:xfrm>
            <a:off x="5048250" y="9505950"/>
            <a:ext cx="4603406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50" b="1" dirty="0">
                <a:solidFill>
                  <a:srgbClr val="8A94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FalaInstrutor · Segurança do Trabalho</a:t>
            </a:r>
            <a:endParaRPr lang="en-US" sz="1950" dirty="0"/>
          </a:p>
        </p:txBody>
      </p:sp>
      <p:sp>
        <p:nvSpPr>
          <p:cNvPr id="15" name="Text 12"/>
          <p:cNvSpPr/>
          <p:nvPr/>
        </p:nvSpPr>
        <p:spPr>
          <a:xfrm>
            <a:off x="17155187" y="9505950"/>
            <a:ext cx="351764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50" b="1" dirty="0">
                <a:solidFill>
                  <a:srgbClr val="8A94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1F2A3A"/>
          </a:solidFill>
          <a:ln/>
        </p:spPr>
      </p:sp>
      <p:sp>
        <p:nvSpPr>
          <p:cNvPr id="3" name="Shape 1"/>
          <p:cNvSpPr/>
          <p:nvPr/>
        </p:nvSpPr>
        <p:spPr>
          <a:xfrm>
            <a:off x="1428750" y="2433770"/>
            <a:ext cx="1524000" cy="171450"/>
          </a:xfrm>
          <a:prstGeom prst="rect">
            <a:avLst/>
          </a:prstGeom>
          <a:solidFill>
            <a:srgbClr val="F5B21A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2986220"/>
            <a:ext cx="16973550" cy="27412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24750" b="1" spc="-743" kern="0" dirty="0">
                <a:solidFill>
                  <a:srgbClr val="F5B2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+20 mi</a:t>
            </a:r>
            <a:endParaRPr lang="en-US" sz="24750" dirty="0"/>
          </a:p>
        </p:txBody>
      </p:sp>
      <p:sp>
        <p:nvSpPr>
          <p:cNvPr id="5" name="Text 3"/>
          <p:cNvSpPr/>
          <p:nvPr/>
        </p:nvSpPr>
        <p:spPr>
          <a:xfrm>
            <a:off x="1428750" y="6070335"/>
            <a:ext cx="11772900" cy="1820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empresas ativas no Brasil precisam cumprir obrigações de SST — mercado recorrente e em expansão.</a:t>
            </a:r>
            <a:pPr algn="l" indent="0" marL="0">
              <a:lnSpc>
                <a:spcPct val="130000"/>
              </a:lnSpc>
              <a:buNone/>
            </a:pPr>
            <a:pPr algn="l" indent="0" marL="0">
              <a:lnSpc>
                <a:spcPct val="130000"/>
              </a:lnSpc>
              <a:buNone/>
            </a:pP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428750" y="9505950"/>
            <a:ext cx="4603406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50" b="1" dirty="0">
                <a:solidFill>
                  <a:srgbClr val="8A94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FalaInstrutor · Segurança do Trabalho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16583687" y="9505950"/>
            <a:ext cx="351764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50" b="1" dirty="0">
                <a:solidFill>
                  <a:srgbClr val="8A94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4000500" cy="10287000"/>
          </a:xfrm>
          <a:prstGeom prst="rect">
            <a:avLst/>
          </a:prstGeom>
          <a:solidFill>
            <a:srgbClr val="1F2A3A"/>
          </a:solidFill>
          <a:ln/>
        </p:spPr>
      </p:sp>
      <p:sp>
        <p:nvSpPr>
          <p:cNvPr id="4" name="Text 2"/>
          <p:cNvSpPr/>
          <p:nvPr/>
        </p:nvSpPr>
        <p:spPr>
          <a:xfrm>
            <a:off x="533400" y="1238250"/>
            <a:ext cx="3227070" cy="1752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0" b="1" dirty="0">
                <a:solidFill>
                  <a:srgbClr val="F5B2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500" dirty="0"/>
          </a:p>
        </p:txBody>
      </p:sp>
      <p:sp>
        <p:nvSpPr>
          <p:cNvPr id="5" name="Text 3"/>
          <p:cNvSpPr/>
          <p:nvPr/>
        </p:nvSpPr>
        <p:spPr>
          <a:xfrm>
            <a:off x="533400" y="3181350"/>
            <a:ext cx="3021711" cy="96758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300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 DE NEGÓCIO</a:t>
            </a:r>
            <a:endParaRPr lang="en-US" sz="30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8267700"/>
            <a:ext cx="1143000" cy="12573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48250" y="1238250"/>
            <a:ext cx="12557760" cy="1436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5100" b="1" spc="-76" kern="0" dirty="0">
                <a:solidFill>
                  <a:srgbClr val="1F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geramos receita</a:t>
            </a:r>
            <a:endParaRPr lang="en-US" sz="5100" dirty="0"/>
          </a:p>
        </p:txBody>
      </p:sp>
      <p:sp>
        <p:nvSpPr>
          <p:cNvPr id="8" name="Shape 5"/>
          <p:cNvSpPr/>
          <p:nvPr/>
        </p:nvSpPr>
        <p:spPr>
          <a:xfrm>
            <a:off x="5048250" y="3303852"/>
            <a:ext cx="209550" cy="209550"/>
          </a:xfrm>
          <a:prstGeom prst="rect">
            <a:avLst/>
          </a:prstGeom>
          <a:solidFill>
            <a:srgbClr val="F5B21A"/>
          </a:solidFill>
          <a:ln/>
        </p:spPr>
      </p:sp>
      <p:sp>
        <p:nvSpPr>
          <p:cNvPr id="9" name="Text 6"/>
          <p:cNvSpPr/>
          <p:nvPr/>
        </p:nvSpPr>
        <p:spPr>
          <a:xfrm>
            <a:off x="5505450" y="3170502"/>
            <a:ext cx="10366031" cy="5520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2850" dirty="0">
                <a:solidFill>
                  <a:srgbClr val="3846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B2C: cursos avulsos para profissionais.</a:t>
            </a:r>
            <a:endParaRPr lang="en-US" sz="2850" dirty="0"/>
          </a:p>
        </p:txBody>
      </p:sp>
      <p:sp>
        <p:nvSpPr>
          <p:cNvPr id="10" name="Shape 7"/>
          <p:cNvSpPr/>
          <p:nvPr/>
        </p:nvSpPr>
        <p:spPr>
          <a:xfrm>
            <a:off x="5048250" y="4141655"/>
            <a:ext cx="209550" cy="209550"/>
          </a:xfrm>
          <a:prstGeom prst="rect">
            <a:avLst/>
          </a:prstGeom>
          <a:solidFill>
            <a:srgbClr val="F5B21A"/>
          </a:solidFill>
          <a:ln/>
        </p:spPr>
      </p:sp>
      <p:sp>
        <p:nvSpPr>
          <p:cNvPr id="11" name="Text 8"/>
          <p:cNvSpPr/>
          <p:nvPr/>
        </p:nvSpPr>
        <p:spPr>
          <a:xfrm>
            <a:off x="5505450" y="4008305"/>
            <a:ext cx="8202282" cy="5520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2850" dirty="0">
                <a:solidFill>
                  <a:srgbClr val="3846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B2B: planos para empresas treinarem equipes.</a:t>
            </a:r>
            <a:endParaRPr lang="en-US" sz="2850" dirty="0"/>
          </a:p>
        </p:txBody>
      </p:sp>
      <p:sp>
        <p:nvSpPr>
          <p:cNvPr id="12" name="Shape 9"/>
          <p:cNvSpPr/>
          <p:nvPr/>
        </p:nvSpPr>
        <p:spPr>
          <a:xfrm>
            <a:off x="5048250" y="4979458"/>
            <a:ext cx="209550" cy="209550"/>
          </a:xfrm>
          <a:prstGeom prst="rect">
            <a:avLst/>
          </a:prstGeom>
          <a:solidFill>
            <a:srgbClr val="F5B21A"/>
          </a:solidFill>
          <a:ln/>
        </p:spPr>
      </p:sp>
      <p:sp>
        <p:nvSpPr>
          <p:cNvPr id="13" name="Text 10"/>
          <p:cNvSpPr/>
          <p:nvPr/>
        </p:nvSpPr>
        <p:spPr>
          <a:xfrm>
            <a:off x="5505450" y="4846108"/>
            <a:ext cx="10095217" cy="5520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2850" dirty="0">
                <a:solidFill>
                  <a:srgbClr val="3846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Marketplace: instrutores com comissão.</a:t>
            </a:r>
            <a:endParaRPr lang="en-US" sz="2850" dirty="0"/>
          </a:p>
        </p:txBody>
      </p:sp>
      <p:sp>
        <p:nvSpPr>
          <p:cNvPr id="14" name="Text 11"/>
          <p:cNvSpPr/>
          <p:nvPr/>
        </p:nvSpPr>
        <p:spPr>
          <a:xfrm>
            <a:off x="5048250" y="9505950"/>
            <a:ext cx="4603406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50" b="1" dirty="0">
                <a:solidFill>
                  <a:srgbClr val="8A94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FalaInstrutor · Segurança do Trabalho</a:t>
            </a:r>
            <a:endParaRPr lang="en-US" sz="1950" dirty="0"/>
          </a:p>
        </p:txBody>
      </p:sp>
      <p:sp>
        <p:nvSpPr>
          <p:cNvPr id="15" name="Text 12"/>
          <p:cNvSpPr/>
          <p:nvPr/>
        </p:nvSpPr>
        <p:spPr>
          <a:xfrm>
            <a:off x="17155187" y="9505950"/>
            <a:ext cx="351764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50" b="1" dirty="0">
                <a:solidFill>
                  <a:srgbClr val="8A94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2026-06-23T12:52:23Z</dcterms:created>
  <dcterms:modified xsi:type="dcterms:W3CDTF">2026-06-23T12:52:23Z</dcterms:modified>
</cp:coreProperties>
</file>