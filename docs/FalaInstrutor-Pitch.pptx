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6" r:id="rId17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 (15s). Em 1 frase: digitalizamos o treinamento obrigatório de SST — cursos nas NRs, certificado válido e gestão de conformidade para empresas.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 de ~5 min: problema, solução, produto, mercado, diferenciais, modelo e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Entrando no contexto do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Treinar nas NRs é obrigação legal de toda empresa. O presencial é caro e difícil de comprovar. Sem conformidade vêm multas, embargos e acidentes — dor real, cara e recorrente.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Resolvemos 100% online: cursos, prova corrigida automaticamente, certificado com assinatura digital do instrutor e painel de conformidade por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Reforço de impacto: treinamento previne a grande maioria dos acidentes — esse é o nosso valor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Convite: testar a demonstração e conversar sobre proposta. Contato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painéis integrados na mesma base — web e app Android. Aluno estuda e certifica; empresa acompanha conformidade; instrutor e admin gerem provas, vendas e comissões.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Validade jurídica (assinatura digital/ICP), integridade da avaliação (correção no servidor + homologação do instrutor) e visão de conformidade por empresa (NR-04).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Mais de 20 milhões de empresas ativas no Brasil, todas com obrigações de SST. Treinamentos têm validade e reciclagem — receita recorrente.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frentes de receita: B2C (cursos avulsos), B2B (planos por empresa) e marketplace de instrutores com comissão.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680854" cy="102870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680854" cy="10287000"/>
          </a:xfrm>
          <a:prstGeom prst="rect">
            <a:avLst/>
          </a:prstGeom>
          <a:solidFill>
            <a:srgbClr val="1F9D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927" y="2838450"/>
            <a:ext cx="4191000" cy="4610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854" y="2000250"/>
            <a:ext cx="10607146" cy="247650"/>
          </a:xfrm>
          <a:prstGeom prst="rect">
            <a:avLst/>
          </a:prstGeom>
          <a:solidFill>
            <a:srgbClr val="F5B21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254" y="838200"/>
            <a:ext cx="4381500" cy="1237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254" y="3143250"/>
            <a:ext cx="8829675" cy="224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0" b="1" spc="-174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</a:t>
            </a:r>
            <a:endParaRPr lang="en-US" sz="8700" dirty="0"/>
          </a:p>
        </p:txBody>
      </p:sp>
      <p:sp>
        <p:nvSpPr>
          <p:cNvPr id="9" name="Text 5"/>
          <p:cNvSpPr/>
          <p:nvPr/>
        </p:nvSpPr>
        <p:spPr>
          <a:xfrm>
            <a:off x="8633354" y="6286500"/>
            <a:ext cx="5955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192" kern="0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TREINAMENTO SST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8595254" y="8858250"/>
            <a:ext cx="1721511" cy="514350"/>
          </a:xfrm>
          <a:prstGeom prst="roundRect">
            <a:avLst>
              <a:gd name="adj" fmla="val 14815"/>
            </a:avLst>
          </a:prstGeom>
          <a:solidFill>
            <a:srgbClr val="1F2A3A"/>
          </a:solidFill>
          <a:ln/>
        </p:spPr>
      </p:sp>
      <p:sp>
        <p:nvSpPr>
          <p:cNvPr id="11" name="Text 7"/>
          <p:cNvSpPr/>
          <p:nvPr/>
        </p:nvSpPr>
        <p:spPr>
          <a:xfrm>
            <a:off x="8804804" y="8972550"/>
            <a:ext cx="13786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NRs · 2026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0507266" y="8972550"/>
            <a:ext cx="29006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em SST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2667000" cy="1714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2955237" cy="878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spc="-94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428750" y="3276600"/>
            <a:ext cx="15430500" cy="11049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6" name="Shape 4"/>
          <p:cNvSpPr/>
          <p:nvPr/>
        </p:nvSpPr>
        <p:spPr>
          <a:xfrm>
            <a:off x="1428750" y="3276600"/>
            <a:ext cx="127000" cy="11049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7" name="Text 5"/>
          <p:cNvSpPr/>
          <p:nvPr/>
        </p:nvSpPr>
        <p:spPr>
          <a:xfrm>
            <a:off x="1936750" y="3562350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136900" y="3611827"/>
            <a:ext cx="6618433" cy="4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428750" y="4591050"/>
            <a:ext cx="15430500" cy="11049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1428750" y="4591050"/>
            <a:ext cx="127000" cy="11049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11" name="Text 9"/>
          <p:cNvSpPr/>
          <p:nvPr/>
        </p:nvSpPr>
        <p:spPr>
          <a:xfrm>
            <a:off x="1936750" y="4876800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136900" y="4926277"/>
            <a:ext cx="5267709" cy="4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e produto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428750" y="5905500"/>
            <a:ext cx="15430500" cy="11049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428750" y="5905500"/>
            <a:ext cx="127000" cy="110490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5" name="Text 13"/>
          <p:cNvSpPr/>
          <p:nvPr/>
        </p:nvSpPr>
        <p:spPr>
          <a:xfrm>
            <a:off x="1936750" y="6191250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98A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136900" y="6240727"/>
            <a:ext cx="4868982" cy="4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 diferenciais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1428750" y="7219950"/>
            <a:ext cx="15430500" cy="11049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428750" y="7219950"/>
            <a:ext cx="127000" cy="11049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19" name="Text 17"/>
          <p:cNvSpPr/>
          <p:nvPr/>
        </p:nvSpPr>
        <p:spPr>
          <a:xfrm>
            <a:off x="1936750" y="7505700"/>
            <a:ext cx="933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136900" y="7555177"/>
            <a:ext cx="7435678" cy="4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 próximos passos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412427" cy="102870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8412427" cy="102870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3914775"/>
            <a:ext cx="3496284" cy="249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6" name="Shape 4"/>
          <p:cNvSpPr/>
          <p:nvPr/>
        </p:nvSpPr>
        <p:spPr>
          <a:xfrm>
            <a:off x="9269677" y="3831034"/>
            <a:ext cx="1524000" cy="1714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7" name="Text 5"/>
          <p:cNvSpPr/>
          <p:nvPr/>
        </p:nvSpPr>
        <p:spPr>
          <a:xfrm>
            <a:off x="9269677" y="4326334"/>
            <a:ext cx="8977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540" kern="0" dirty="0">
                <a:solidFill>
                  <a:srgbClr val="7F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69677" y="4840684"/>
            <a:ext cx="8405905" cy="165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0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005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238250"/>
            <a:ext cx="32270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33400" y="3181350"/>
            <a:ext cx="3021711" cy="967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8267700"/>
            <a:ext cx="1143000" cy="125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8250" y="1238250"/>
            <a:ext cx="12557760" cy="143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76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nas NRs: caro e burocrático</a:t>
            </a:r>
            <a:endParaRPr lang="en-US" sz="5100" dirty="0"/>
          </a:p>
        </p:txBody>
      </p:sp>
      <p:sp>
        <p:nvSpPr>
          <p:cNvPr id="8" name="Shape 5"/>
          <p:cNvSpPr/>
          <p:nvPr/>
        </p:nvSpPr>
        <p:spPr>
          <a:xfrm>
            <a:off x="5048250" y="3303852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9" name="Text 6"/>
          <p:cNvSpPr/>
          <p:nvPr/>
        </p:nvSpPr>
        <p:spPr>
          <a:xfrm>
            <a:off x="5505450" y="3170502"/>
            <a:ext cx="10366031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a equipe nas NRs é exigência legal.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5048250" y="4141655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1" name="Text 8"/>
          <p:cNvSpPr/>
          <p:nvPr/>
        </p:nvSpPr>
        <p:spPr>
          <a:xfrm>
            <a:off x="5505450" y="4008305"/>
            <a:ext cx="8202282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presencial é caro, lento e difícil de gerir.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048250" y="4979458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3" name="Text 10"/>
          <p:cNvSpPr/>
          <p:nvPr/>
        </p:nvSpPr>
        <p:spPr>
          <a:xfrm>
            <a:off x="5505450" y="4846108"/>
            <a:ext cx="10095217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conformidade: multas, embargos e acidentes.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50482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71551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934450"/>
            <a:ext cx="228600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4" name="Text 2"/>
          <p:cNvSpPr/>
          <p:nvPr/>
        </p:nvSpPr>
        <p:spPr>
          <a:xfrm>
            <a:off x="8667750" y="3304117"/>
            <a:ext cx="94297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360" kern="0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 SOLUÇÃO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67750" y="3780367"/>
            <a:ext cx="8829675" cy="1354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72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Treinar, homologar e certificar — online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67750" y="5439834"/>
            <a:ext cx="882967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FalaInstrutor reúne cursos nas NRs, prova corrigida no servidor, certificado válido com assinatura digital e painel de conformidade para a empresa.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428750" y="2433770"/>
            <a:ext cx="1524000" cy="1714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86220"/>
            <a:ext cx="16973550" cy="2741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750" b="1" spc="-743" kern="0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1428750" y="6070335"/>
            <a:ext cx="11772900" cy="182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acidentes de trabalho são evitáveis com treinamento e medidas de controle adequadas.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287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5836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680854" cy="10287000"/>
          </a:xfrm>
          <a:prstGeom prst="rect">
            <a:avLst/>
          </a:prstGeom>
          <a:solidFill>
            <a:srgbClr val="1F9D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680854" cy="10287000"/>
          </a:xfrm>
          <a:prstGeom prst="rect">
            <a:avLst/>
          </a:prstGeom>
          <a:solidFill>
            <a:srgbClr val="1F9D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677" y="3152775"/>
            <a:ext cx="3619500" cy="3981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38104" y="2788973"/>
            <a:ext cx="1524000" cy="1714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7" name="Text 4"/>
          <p:cNvSpPr/>
          <p:nvPr/>
        </p:nvSpPr>
        <p:spPr>
          <a:xfrm>
            <a:off x="8538104" y="3284273"/>
            <a:ext cx="97819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462" kern="0" dirty="0">
                <a:solidFill>
                  <a:srgbClr val="1F9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538104" y="3779573"/>
            <a:ext cx="9159426" cy="155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4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levar SST a mais empresas</a:t>
            </a:r>
            <a:endParaRPr lang="en-US" sz="5700" dirty="0"/>
          </a:p>
        </p:txBody>
      </p:sp>
      <p:sp>
        <p:nvSpPr>
          <p:cNvPr id="9" name="Shape 6"/>
          <p:cNvSpPr/>
          <p:nvPr/>
        </p:nvSpPr>
        <p:spPr>
          <a:xfrm>
            <a:off x="8538104" y="5869120"/>
            <a:ext cx="152400" cy="15240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0" name="Text 7"/>
          <p:cNvSpPr/>
          <p:nvPr/>
        </p:nvSpPr>
        <p:spPr>
          <a:xfrm>
            <a:off x="8881004" y="5752571"/>
            <a:ext cx="529657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Acesse: falainstrutor.onrender.com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8538104" y="6532033"/>
            <a:ext cx="152400" cy="15240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2" name="Text 9"/>
          <p:cNvSpPr/>
          <p:nvPr/>
        </p:nvSpPr>
        <p:spPr>
          <a:xfrm>
            <a:off x="8881004" y="6415485"/>
            <a:ext cx="55592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profissionais e empresas (PF e PJ)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8538104" y="7194947"/>
            <a:ext cx="152400" cy="15240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4" name="Text 11"/>
          <p:cNvSpPr/>
          <p:nvPr/>
        </p:nvSpPr>
        <p:spPr>
          <a:xfrm>
            <a:off x="8881004" y="7078398"/>
            <a:ext cx="44974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contato@falainstrutor.com.br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005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238250"/>
            <a:ext cx="32270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33400" y="3181350"/>
            <a:ext cx="3021711" cy="967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267700"/>
            <a:ext cx="1143000" cy="125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8250" y="1238250"/>
            <a:ext cx="12557760" cy="143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76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plataforma, quatro painéis</a:t>
            </a:r>
            <a:endParaRPr lang="en-US" sz="5100" dirty="0"/>
          </a:p>
        </p:txBody>
      </p:sp>
      <p:sp>
        <p:nvSpPr>
          <p:cNvPr id="8" name="Shape 5"/>
          <p:cNvSpPr/>
          <p:nvPr/>
        </p:nvSpPr>
        <p:spPr>
          <a:xfrm>
            <a:off x="5048250" y="3303852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9" name="Text 6"/>
          <p:cNvSpPr/>
          <p:nvPr/>
        </p:nvSpPr>
        <p:spPr>
          <a:xfrm>
            <a:off x="5505450" y="3170502"/>
            <a:ext cx="10366031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Aluno: cursos, provas e certificado no celular.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5048250" y="4141655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1" name="Text 8"/>
          <p:cNvSpPr/>
          <p:nvPr/>
        </p:nvSpPr>
        <p:spPr>
          <a:xfrm>
            <a:off x="5505450" y="4008305"/>
            <a:ext cx="8202282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Empresa: treinamentos por grau de risco.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048250" y="4979458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3" name="Text 10"/>
          <p:cNvSpPr/>
          <p:nvPr/>
        </p:nvSpPr>
        <p:spPr>
          <a:xfrm>
            <a:off x="5505450" y="4846108"/>
            <a:ext cx="10095217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 e Admin: provas, vendas e gestão.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50482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71551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005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238250"/>
            <a:ext cx="32270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33400" y="3181350"/>
            <a:ext cx="3021711" cy="967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267700"/>
            <a:ext cx="1143000" cy="125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8250" y="1238250"/>
            <a:ext cx="12557760" cy="143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76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FalaInstrutor</a:t>
            </a:r>
            <a:endParaRPr lang="en-US" sz="5100" dirty="0"/>
          </a:p>
        </p:txBody>
      </p:sp>
      <p:sp>
        <p:nvSpPr>
          <p:cNvPr id="8" name="Shape 5"/>
          <p:cNvSpPr/>
          <p:nvPr/>
        </p:nvSpPr>
        <p:spPr>
          <a:xfrm>
            <a:off x="5048250" y="3303852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9" name="Text 6"/>
          <p:cNvSpPr/>
          <p:nvPr/>
        </p:nvSpPr>
        <p:spPr>
          <a:xfrm>
            <a:off x="5505450" y="3170502"/>
            <a:ext cx="10366031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com assinatura digital do instrutor.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5048250" y="4141655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1" name="Text 8"/>
          <p:cNvSpPr/>
          <p:nvPr/>
        </p:nvSpPr>
        <p:spPr>
          <a:xfrm>
            <a:off x="5505450" y="4008305"/>
            <a:ext cx="8202282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corrigida no servidor + homologação.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048250" y="4979458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3" name="Text 10"/>
          <p:cNvSpPr/>
          <p:nvPr/>
        </p:nvSpPr>
        <p:spPr>
          <a:xfrm>
            <a:off x="5505450" y="4846108"/>
            <a:ext cx="10095217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Multiplataforma: site, app Android e painel B2B.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50482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71551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428750" y="2433770"/>
            <a:ext cx="1524000" cy="1714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986220"/>
            <a:ext cx="16973550" cy="2741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24750" b="1" spc="-743" kern="0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 mi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1428750" y="6070335"/>
            <a:ext cx="11772900" cy="182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empresas ativas no Brasil precisam cumprir obrigações de SST — mercado recorrente e em expansão.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287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5836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00500" cy="10287000"/>
          </a:xfrm>
          <a:prstGeom prst="rect">
            <a:avLst/>
          </a:prstGeom>
          <a:solidFill>
            <a:srgbClr val="1F2A3A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238250"/>
            <a:ext cx="32270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dirty="0">
                <a:solidFill>
                  <a:srgbClr val="F5B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33400" y="3181350"/>
            <a:ext cx="3021711" cy="967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267700"/>
            <a:ext cx="1143000" cy="1257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8250" y="1238250"/>
            <a:ext cx="12557760" cy="1436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76" kern="0" dirty="0">
                <a:solidFill>
                  <a:srgbClr val="1F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geramos receita</a:t>
            </a:r>
            <a:endParaRPr lang="en-US" sz="5100" dirty="0"/>
          </a:p>
        </p:txBody>
      </p:sp>
      <p:sp>
        <p:nvSpPr>
          <p:cNvPr id="8" name="Shape 5"/>
          <p:cNvSpPr/>
          <p:nvPr/>
        </p:nvSpPr>
        <p:spPr>
          <a:xfrm>
            <a:off x="5048250" y="3303852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9" name="Text 6"/>
          <p:cNvSpPr/>
          <p:nvPr/>
        </p:nvSpPr>
        <p:spPr>
          <a:xfrm>
            <a:off x="5505450" y="3170502"/>
            <a:ext cx="10366031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B2C: cursos avulsos para profissionais.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5048250" y="4141655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1" name="Text 8"/>
          <p:cNvSpPr/>
          <p:nvPr/>
        </p:nvSpPr>
        <p:spPr>
          <a:xfrm>
            <a:off x="5505450" y="4008305"/>
            <a:ext cx="8202282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B2B: planos para empresas treinarem equipes.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048250" y="4979458"/>
            <a:ext cx="209550" cy="209550"/>
          </a:xfrm>
          <a:prstGeom prst="rect">
            <a:avLst/>
          </a:prstGeom>
          <a:solidFill>
            <a:srgbClr val="F5B21A"/>
          </a:solidFill>
          <a:ln/>
        </p:spPr>
      </p:sp>
      <p:sp>
        <p:nvSpPr>
          <p:cNvPr id="13" name="Text 10"/>
          <p:cNvSpPr/>
          <p:nvPr/>
        </p:nvSpPr>
        <p:spPr>
          <a:xfrm>
            <a:off x="5505450" y="4846108"/>
            <a:ext cx="10095217" cy="552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850" dirty="0">
                <a:solidFill>
                  <a:srgbClr val="384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Marketplace: instrutores com comissão.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5048250" y="9505950"/>
            <a:ext cx="46034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FalaInstrutor · Segurança do Trabalho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7155187" y="9505950"/>
            <a:ext cx="351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2026-06-23T12:52:23Z</dcterms:created>
  <dcterms:modified xsi:type="dcterms:W3CDTF">2026-06-23T12:52:23Z</dcterms:modified>
</cp:coreProperties>
</file>